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00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232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94359" y="2024339"/>
            <a:ext cx="7570763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700" b="1" dirty="0">
                <a:solidFill>
                  <a:srgbClr val="263238"/>
                </a:solidFill>
              </a:rPr>
              <a:t>Hypothesis‑Only Baselines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94359" y="2710139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F8B8D"/>
                </a:solidFill>
              </a:rPr>
              <a:t>in Natural Language Inference</a:t>
            </a:r>
            <a:endParaRPr lang="en-US" sz="2100" dirty="0"/>
          </a:p>
        </p:txBody>
      </p:sp>
      <p:sp>
        <p:nvSpPr>
          <p:cNvPr id="5" name="Shape 2"/>
          <p:cNvSpPr/>
          <p:nvPr/>
        </p:nvSpPr>
        <p:spPr>
          <a:xfrm>
            <a:off x="594359" y="3192898"/>
            <a:ext cx="3383280" cy="0"/>
          </a:xfrm>
          <a:prstGeom prst="line">
            <a:avLst/>
          </a:prstGeom>
          <a:noFill/>
          <a:ln w="5080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40080" y="4439998"/>
            <a:ext cx="49377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B6B6B"/>
                </a:solidFill>
              </a:rPr>
              <a:t>Paper: Poliak et al. (*SEM 2018)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6B6B6B"/>
                </a:solidFill>
              </a:rPr>
              <a:t>Presenter: Sahar </a:t>
            </a:r>
            <a:r>
              <a:rPr lang="en-US" sz="1700" dirty="0" err="1">
                <a:solidFill>
                  <a:srgbClr val="6B6B6B"/>
                </a:solidFill>
              </a:rPr>
              <a:t>Moghtaderi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63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NLI in 20 seconds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8961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</a:rPr>
              <a:t>The task is supposed to compare two texts.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017520" y="2743200"/>
            <a:ext cx="1737360" cy="0"/>
          </a:xfrm>
          <a:prstGeom prst="line">
            <a:avLst/>
          </a:prstGeom>
          <a:noFill/>
          <a:ln w="27940">
            <a:solidFill>
              <a:srgbClr val="0F8B8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858000" y="2743200"/>
            <a:ext cx="1463040" cy="0"/>
          </a:xfrm>
          <a:prstGeom prst="line">
            <a:avLst/>
          </a:prstGeom>
          <a:noFill/>
          <a:ln w="27940">
            <a:solidFill>
              <a:srgbClr val="0F8B8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2057400"/>
            <a:ext cx="2148840" cy="1325880"/>
          </a:xfrm>
          <a:prstGeom prst="roundRect">
            <a:avLst>
              <a:gd name="adj" fmla="val 9655"/>
            </a:avLst>
          </a:prstGeom>
          <a:solidFill>
            <a:srgbClr val="DDF1EF"/>
          </a:solidFill>
          <a:ln w="1524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59536" y="2167128"/>
            <a:ext cx="1892808" cy="11064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3238"/>
                </a:solidFill>
              </a:rPr>
              <a:t>Premise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63238"/>
                </a:solidFill>
              </a:rPr>
              <a:t>“The dog is running.”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800600" y="2057400"/>
            <a:ext cx="2148840" cy="1325880"/>
          </a:xfrm>
          <a:prstGeom prst="roundRect">
            <a:avLst>
              <a:gd name="adj" fmla="val 9655"/>
            </a:avLst>
          </a:prstGeom>
          <a:solidFill>
            <a:srgbClr val="FFF0C2"/>
          </a:solidFill>
          <a:ln w="1524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28616" y="2167128"/>
            <a:ext cx="1892808" cy="11064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3238"/>
                </a:solidFill>
              </a:rPr>
              <a:t>Hypothesis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63238"/>
                </a:solidFill>
              </a:rPr>
              <a:t>“An animal is moving.”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412480" y="2057400"/>
            <a:ext cx="2377440" cy="1325880"/>
          </a:xfrm>
          <a:prstGeom prst="roundRect">
            <a:avLst>
              <a:gd name="adj" fmla="val 9655"/>
            </a:avLst>
          </a:prstGeom>
          <a:solidFill>
            <a:srgbClr val="ECE8FF"/>
          </a:solidFill>
          <a:ln w="15240">
            <a:solidFill>
              <a:srgbClr val="B9A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540496" y="2167128"/>
            <a:ext cx="2121408" cy="11064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3238"/>
                </a:solidFill>
              </a:rPr>
              <a:t>Label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63238"/>
                </a:solidFill>
              </a:rPr>
              <a:t>ENTAILMENT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60120" y="388620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63238"/>
                </a:solidFill>
              </a:rPr>
              <a:t>Question: does the hypothesis follow from the premise?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2011680" y="4709160"/>
            <a:ext cx="1920240" cy="384048"/>
          </a:xfrm>
          <a:prstGeom prst="roundRect">
            <a:avLst>
              <a:gd name="adj" fmla="val 28571"/>
            </a:avLst>
          </a:prstGeom>
          <a:solidFill>
            <a:srgbClr val="DDF1EF"/>
          </a:solidFill>
          <a:ln w="12700">
            <a:solidFill>
              <a:srgbClr val="DDF1E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084832" y="4791456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8B8D"/>
                </a:solidFill>
              </a:rPr>
              <a:t>entailment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74920" y="4709160"/>
            <a:ext cx="1554480" cy="384048"/>
          </a:xfrm>
          <a:prstGeom prst="roundRect">
            <a:avLst>
              <a:gd name="adj" fmla="val 28571"/>
            </a:avLst>
          </a:prstGeom>
          <a:solidFill>
            <a:srgbClr val="FFF0C2"/>
          </a:solidFill>
          <a:ln w="12700">
            <a:solidFill>
              <a:srgbClr val="FFF0C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148072" y="4791456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9E6A00"/>
                </a:solidFill>
              </a:rPr>
              <a:t>neutral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680960" y="4709160"/>
            <a:ext cx="2103120" cy="384048"/>
          </a:xfrm>
          <a:prstGeom prst="roundRect">
            <a:avLst>
              <a:gd name="adj" fmla="val 28571"/>
            </a:avLst>
          </a:prstGeom>
          <a:solidFill>
            <a:srgbClr val="FFE0DB"/>
          </a:solidFill>
          <a:ln w="12700">
            <a:solidFill>
              <a:srgbClr val="FFE0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54112" y="4791456"/>
            <a:ext cx="1956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F5B5B"/>
                </a:solidFill>
              </a:rPr>
              <a:t>contradiction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02920" y="651967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37B"/>
                </a:solidFill>
              </a:rPr>
              <a:t>Poliak et al., 2018 · Hypothesis Only Baselines in NLI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9738360" y="65196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8A837B"/>
                </a:solidFill>
              </a:rPr>
              <a:t>*SEM 2018</a:t>
            </a:r>
            <a:endParaRPr lang="en-US" sz="8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63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suspicious shortcut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8961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</a:rPr>
              <a:t>What if the model can predict the label without seeing the premise?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017520" cy="1097280"/>
          </a:xfrm>
          <a:prstGeom prst="roundRect">
            <a:avLst>
              <a:gd name="adj" fmla="val 11667"/>
            </a:avLst>
          </a:prstGeom>
          <a:solidFill>
            <a:srgbClr val="DDF1EF"/>
          </a:solidFill>
          <a:ln w="1524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50976" y="1938528"/>
            <a:ext cx="2761488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3238"/>
                </a:solidFill>
              </a:rPr>
              <a:t>Normal NLI model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63238"/>
                </a:solidFill>
              </a:rPr>
              <a:t>Premise + Hypothesis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977640" y="2377440"/>
            <a:ext cx="1005840" cy="0"/>
          </a:xfrm>
          <a:prstGeom prst="line">
            <a:avLst/>
          </a:prstGeom>
          <a:noFill/>
          <a:ln w="27940">
            <a:solidFill>
              <a:srgbClr val="0F8B8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74920" y="1874520"/>
            <a:ext cx="137160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24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202936" y="1984248"/>
            <a:ext cx="1115568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63238"/>
                </a:solidFill>
              </a:rPr>
              <a:t>Label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822960" y="3749040"/>
            <a:ext cx="3017520" cy="1097280"/>
          </a:xfrm>
          <a:prstGeom prst="roundRect">
            <a:avLst>
              <a:gd name="adj" fmla="val 11667"/>
            </a:avLst>
          </a:prstGeom>
          <a:solidFill>
            <a:srgbClr val="FFE0DB"/>
          </a:solidFill>
          <a:ln w="15240">
            <a:solidFill>
              <a:srgbClr val="EF5B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50976" y="3858768"/>
            <a:ext cx="2761488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3238"/>
                </a:solidFill>
              </a:rPr>
              <a:t>Hypothesis‑only model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63238"/>
                </a:solidFill>
              </a:rPr>
              <a:t>Premise is hidden 🚫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977640" y="4297680"/>
            <a:ext cx="1005840" cy="0"/>
          </a:xfrm>
          <a:prstGeom prst="line">
            <a:avLst/>
          </a:prstGeom>
          <a:noFill/>
          <a:ln w="27940">
            <a:solidFill>
              <a:srgbClr val="EF5B5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74920" y="3794760"/>
            <a:ext cx="137160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5240">
            <a:solidFill>
              <a:srgbClr val="EF5B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02936" y="3904488"/>
            <a:ext cx="1115568" cy="786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63238"/>
                </a:solidFill>
              </a:rPr>
              <a:t>Label?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949440" y="2084832"/>
            <a:ext cx="438912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500" b="1" dirty="0">
                <a:solidFill>
                  <a:srgbClr val="263238"/>
                </a:solidFill>
              </a:rPr>
              <a:t>If the second line still works, the dataset has clues inside the hypothesis.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6949440" y="4434840"/>
            <a:ext cx="43891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8B8D"/>
                </a:solidFill>
              </a:rPr>
              <a:t>That is the core idea of the paper.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02920" y="651967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37B"/>
                </a:solidFill>
              </a:rPr>
              <a:t>Poliak et al., 2018 · Hypothesis Only Baselines in NLI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738360" y="65196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8A837B"/>
                </a:solidFill>
              </a:rPr>
              <a:t>*SEM 2018</a:t>
            </a:r>
            <a:endParaRPr lang="en-US" sz="8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63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Their experiment: make a “cheating” baseline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8961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</a:rPr>
              <a:t>It is not meant to solve NLI. It is meant to diagnose datasets.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1920240"/>
            <a:ext cx="210312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524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13816" y="2029968"/>
            <a:ext cx="1847088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3238"/>
                </a:solidFill>
              </a:rPr>
              <a:t>1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63238"/>
                </a:solidFill>
              </a:rPr>
              <a:t>Take 10 NLI datasets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907792" y="2487168"/>
            <a:ext cx="749808" cy="0"/>
          </a:xfrm>
          <a:prstGeom prst="line">
            <a:avLst/>
          </a:prstGeom>
          <a:noFill/>
          <a:ln w="27940">
            <a:solidFill>
              <a:srgbClr val="314E5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703320" y="1920240"/>
            <a:ext cx="210312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5240">
            <a:solidFill>
              <a:srgbClr val="EF5B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31336" y="2029968"/>
            <a:ext cx="1847088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3238"/>
                </a:solidFill>
              </a:rPr>
              <a:t>2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63238"/>
                </a:solidFill>
              </a:rPr>
              <a:t>Remove the premise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925312" y="2487168"/>
            <a:ext cx="749808" cy="0"/>
          </a:xfrm>
          <a:prstGeom prst="line">
            <a:avLst/>
          </a:prstGeom>
          <a:noFill/>
          <a:ln w="27940">
            <a:solidFill>
              <a:srgbClr val="314E5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720840" y="1920240"/>
            <a:ext cx="210312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524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48856" y="2029968"/>
            <a:ext cx="1847088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3238"/>
                </a:solidFill>
              </a:rPr>
              <a:t>3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63238"/>
                </a:solidFill>
              </a:rPr>
              <a:t>Train on hypothesis only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942832" y="2487168"/>
            <a:ext cx="749808" cy="0"/>
          </a:xfrm>
          <a:prstGeom prst="line">
            <a:avLst/>
          </a:prstGeom>
          <a:noFill/>
          <a:ln w="27940">
            <a:solidFill>
              <a:srgbClr val="314E5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738360" y="1920240"/>
            <a:ext cx="1828800" cy="1143000"/>
          </a:xfrm>
          <a:prstGeom prst="roundRect">
            <a:avLst>
              <a:gd name="adj" fmla="val 11200"/>
            </a:avLst>
          </a:prstGeom>
          <a:solidFill>
            <a:srgbClr val="FFFFFF"/>
          </a:solidFill>
          <a:ln w="15240">
            <a:solidFill>
              <a:srgbClr val="B9A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866376" y="2029968"/>
            <a:ext cx="1572768" cy="9235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63238"/>
                </a:solidFill>
              </a:rPr>
              <a:t>4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263238"/>
                </a:solidFill>
              </a:rPr>
              <a:t>Compare to majority label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60120" y="39776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63238"/>
                </a:solidFill>
              </a:rPr>
              <a:t>Model details: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246120" y="3904488"/>
            <a:ext cx="7543800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</a:rPr>
              <a:t>InferSent-style BiLSTM sentence encoder → max pool → MLP classifier.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263238"/>
                </a:solidFill>
              </a:rPr>
              <a:t>300d GloVe embeddings, trained up to 20 epochs.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286000" y="521208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F5B5B"/>
                </a:solidFill>
              </a:rPr>
              <a:t>Key test: Does Hyp‑Only &gt; Majority baseline?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02920" y="651967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37B"/>
                </a:solidFill>
              </a:rPr>
              <a:t>Poliak et al., 2018 · Hypothesis Only Baselines in NLI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738360" y="65196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8A837B"/>
                </a:solidFill>
              </a:rPr>
              <a:t>*SEM 2018</a:t>
            </a:r>
            <a:endParaRPr lang="en-US" sz="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63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zoo: 10 datasets, 3 creation styles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8961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</a:rPr>
              <a:t>How the data was created may influence the shortcuts.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68680" y="1828800"/>
            <a:ext cx="3017520" cy="2011680"/>
          </a:xfrm>
          <a:prstGeom prst="roundRect">
            <a:avLst>
              <a:gd name="adj" fmla="val 6364"/>
            </a:avLst>
          </a:prstGeom>
          <a:solidFill>
            <a:srgbClr val="DDF1EF"/>
          </a:solidFill>
          <a:ln w="1524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96696" y="1938528"/>
            <a:ext cx="2761488" cy="1792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3238"/>
                </a:solidFill>
              </a:rPr>
              <a:t>Human‑elicited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63238"/>
                </a:solidFill>
              </a:rPr>
              <a:t>Humans write hypotheses for labels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63238"/>
                </a:solidFill>
              </a:rPr>
              <a:t>SNLI · MultiNLI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0" y="1828800"/>
            <a:ext cx="3017520" cy="2011680"/>
          </a:xfrm>
          <a:prstGeom prst="roundRect">
            <a:avLst>
              <a:gd name="adj" fmla="val 6364"/>
            </a:avLst>
          </a:prstGeom>
          <a:solidFill>
            <a:srgbClr val="FFF0C2"/>
          </a:solidFill>
          <a:ln w="1524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700016" y="1938528"/>
            <a:ext cx="2761488" cy="1792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3238"/>
                </a:solidFill>
              </a:rPr>
              <a:t>Human‑judged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63238"/>
                </a:solidFill>
              </a:rPr>
              <a:t>Pairs are created, humans judge labels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63238"/>
                </a:solidFill>
              </a:rPr>
              <a:t>SciTail · SICK · MPE · JOCI · ADD‑1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75320" y="1828800"/>
            <a:ext cx="3017520" cy="2011680"/>
          </a:xfrm>
          <a:prstGeom prst="roundRect">
            <a:avLst>
              <a:gd name="adj" fmla="val 6364"/>
            </a:avLst>
          </a:prstGeom>
          <a:solidFill>
            <a:srgbClr val="FFE0DB"/>
          </a:solidFill>
          <a:ln w="15240">
            <a:solidFill>
              <a:srgbClr val="EF5B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403336" y="1938528"/>
            <a:ext cx="2761488" cy="1792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3238"/>
                </a:solidFill>
              </a:rPr>
              <a:t>Automatically recast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63238"/>
                </a:solidFill>
              </a:rPr>
              <a:t>Other NLP tasks converted into NLI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63238"/>
                </a:solidFill>
              </a:rPr>
              <a:t>SPR · DPR · FN+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4709160"/>
            <a:ext cx="101498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63238"/>
                </a:solidFill>
              </a:rPr>
              <a:t>Mini‑pattern: the biggest relative gains show up in human‑elicited datasets.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463040" y="5321808"/>
            <a:ext cx="93268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6B6B6B"/>
                </a:solidFill>
              </a:rPr>
              <a:t>But the paper says: no single creation method fully explains the problem.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2920" y="651967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37B"/>
                </a:solidFill>
              </a:rPr>
              <a:t>Poliak et al., 2018 · Hypothesis Only Baselines in NLI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9738360" y="65196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8A837B"/>
                </a:solidFill>
              </a:rPr>
              <a:t>*SEM 2018</a:t>
            </a:r>
            <a:endParaRPr lang="en-US" sz="8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63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result: the “cheating” model often wins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8961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</a:rPr>
              <a:t>Hypothesis-only accuracy improvement over majority baseline.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85800" y="16459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EF5B5B"/>
                </a:solidFill>
              </a:rPr>
              <a:t>6/10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2359152"/>
            <a:ext cx="2377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263238"/>
                </a:solidFill>
              </a:rPr>
              <a:t>datasets beat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263238"/>
                </a:solidFill>
              </a:rPr>
              <a:t>majority baseline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85800" y="31546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F8B8D"/>
                </a:solidFill>
              </a:rPr>
              <a:t>+34.7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3867912"/>
            <a:ext cx="2377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263238"/>
                </a:solidFill>
              </a:rPr>
              <a:t>points on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263238"/>
                </a:solidFill>
              </a:rPr>
              <a:t>SNLI test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4663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4B942"/>
                </a:solidFill>
              </a:rPr>
              <a:t>+20.1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5376672"/>
            <a:ext cx="23774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263238"/>
                </a:solidFill>
              </a:rPr>
              <a:t>points on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dirty="0">
                <a:solidFill>
                  <a:srgbClr val="263238"/>
                </a:solidFill>
              </a:rPr>
              <a:t>MNLI matched dev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023360" y="1353312"/>
            <a:ext cx="603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</a:rPr>
              <a:t>Absolute gain (percentage points)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154680" y="184708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263238"/>
                </a:solidFill>
              </a:rPr>
              <a:t>SNLI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023360" y="1783080"/>
            <a:ext cx="5669280" cy="384048"/>
          </a:xfrm>
          <a:prstGeom prst="rect">
            <a:avLst/>
          </a:prstGeom>
          <a:solidFill>
            <a:srgbClr val="EFE6D9"/>
          </a:solidFill>
          <a:ln w="12700">
            <a:solidFill>
              <a:srgbClr val="EFE6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023360" y="1783080"/>
            <a:ext cx="5623926" cy="384048"/>
          </a:xfrm>
          <a:prstGeom prst="roundRect">
            <a:avLst>
              <a:gd name="adj" fmla="val 19048"/>
            </a:avLst>
          </a:prstGeom>
          <a:solidFill>
            <a:srgbClr val="EF5B5B"/>
          </a:solidFill>
          <a:ln w="12700">
            <a:solidFill>
              <a:srgbClr val="EF5B5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757014" y="184708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63238"/>
                </a:solidFill>
              </a:rPr>
              <a:t>+34.72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154680" y="257860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263238"/>
                </a:solidFill>
              </a:rPr>
              <a:t>SPR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023360" y="2514600"/>
            <a:ext cx="5669280" cy="384048"/>
          </a:xfrm>
          <a:prstGeom prst="rect">
            <a:avLst/>
          </a:prstGeom>
          <a:solidFill>
            <a:srgbClr val="EFE6D9"/>
          </a:solidFill>
          <a:ln w="12700">
            <a:solidFill>
              <a:srgbClr val="EFE6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023360" y="2514600"/>
            <a:ext cx="3422625" cy="384048"/>
          </a:xfrm>
          <a:prstGeom prst="roundRect">
            <a:avLst>
              <a:gd name="adj" fmla="val 19048"/>
            </a:avLst>
          </a:prstGeom>
          <a:solidFill>
            <a:srgbClr val="0F8B8D"/>
          </a:solidFill>
          <a:ln w="12700">
            <a:solidFill>
              <a:srgbClr val="0F8B8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555713" y="257860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63238"/>
                </a:solidFill>
              </a:rPr>
              <a:t>+21.13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154680" y="331012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263238"/>
                </a:solidFill>
              </a:rPr>
              <a:t>MNLI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023360" y="3246120"/>
            <a:ext cx="5669280" cy="384048"/>
          </a:xfrm>
          <a:prstGeom prst="rect">
            <a:avLst/>
          </a:prstGeom>
          <a:solidFill>
            <a:srgbClr val="EFE6D9"/>
          </a:solidFill>
          <a:ln w="12700">
            <a:solidFill>
              <a:srgbClr val="EFE6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023360" y="3246120"/>
            <a:ext cx="3250927" cy="384048"/>
          </a:xfrm>
          <a:prstGeom prst="roundRect">
            <a:avLst>
              <a:gd name="adj" fmla="val 19048"/>
            </a:avLst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84015" y="331012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63238"/>
                </a:solidFill>
              </a:rPr>
              <a:t>+20.07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154680" y="404164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263238"/>
                </a:solidFill>
              </a:rPr>
              <a:t>SciTail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4023360" y="3977640"/>
            <a:ext cx="5669280" cy="384048"/>
          </a:xfrm>
          <a:prstGeom prst="rect">
            <a:avLst/>
          </a:prstGeom>
          <a:solidFill>
            <a:srgbClr val="EFE6D9"/>
          </a:solidFill>
          <a:ln w="12700">
            <a:solidFill>
              <a:srgbClr val="EFE6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023360" y="3977640"/>
            <a:ext cx="1056106" cy="384048"/>
          </a:xfrm>
          <a:prstGeom prst="roundRect">
            <a:avLst>
              <a:gd name="adj" fmla="val 19048"/>
            </a:avLst>
          </a:prstGeom>
          <a:solidFill>
            <a:srgbClr val="B9A7F5"/>
          </a:solidFill>
          <a:ln w="12700">
            <a:solidFill>
              <a:srgbClr val="B9A7F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189194" y="404164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63238"/>
                </a:solidFill>
              </a:rPr>
              <a:t>+6.52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154680" y="477316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263238"/>
                </a:solidFill>
              </a:rPr>
              <a:t>JOCI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4023360" y="4709160"/>
            <a:ext cx="5669280" cy="384048"/>
          </a:xfrm>
          <a:prstGeom prst="rect">
            <a:avLst/>
          </a:prstGeom>
          <a:solidFill>
            <a:srgbClr val="EFE6D9"/>
          </a:solidFill>
          <a:ln w="12700">
            <a:solidFill>
              <a:srgbClr val="EFE6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023360" y="4709160"/>
            <a:ext cx="866590" cy="384048"/>
          </a:xfrm>
          <a:prstGeom prst="roundRect">
            <a:avLst>
              <a:gd name="adj" fmla="val 19048"/>
            </a:avLst>
          </a:prstGeom>
          <a:solidFill>
            <a:srgbClr val="4D7CFE"/>
          </a:solidFill>
          <a:ln w="12700">
            <a:solidFill>
              <a:srgbClr val="4D7CF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99678" y="477316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63238"/>
                </a:solidFill>
              </a:rPr>
              <a:t>+5.35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154680" y="550468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263238"/>
                </a:solidFill>
              </a:rPr>
              <a:t>FN+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4023360" y="5440680"/>
            <a:ext cx="5669280" cy="384048"/>
          </a:xfrm>
          <a:prstGeom prst="rect">
            <a:avLst/>
          </a:prstGeom>
          <a:solidFill>
            <a:srgbClr val="EFE6D9"/>
          </a:solidFill>
          <a:ln w="12700">
            <a:solidFill>
              <a:srgbClr val="EFE6D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023360" y="5440680"/>
            <a:ext cx="587985" cy="384048"/>
          </a:xfrm>
          <a:prstGeom prst="roundRect">
            <a:avLst>
              <a:gd name="adj" fmla="val 19048"/>
            </a:avLst>
          </a:prstGeom>
          <a:solidFill>
            <a:srgbClr val="69A36F"/>
          </a:solidFill>
          <a:ln w="12700">
            <a:solidFill>
              <a:srgbClr val="69A36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21073" y="550468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63238"/>
                </a:solidFill>
              </a:rPr>
              <a:t>+3.63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069080" y="589788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</a:rPr>
              <a:t>Zero‑gain datasets: DPR, ADD‑1, SICK, MPE.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02920" y="651967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37B"/>
                </a:solidFill>
              </a:rPr>
              <a:t>Poliak et al., 2018 · Hypothesis Only Baselines in NLI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9738360" y="65196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8A837B"/>
                </a:solidFill>
              </a:rPr>
              <a:t>*SEM 2018</a:t>
            </a:r>
            <a:endParaRPr lang="en-US" sz="8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63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Clue #1: “give‑away” words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8961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</a:rPr>
              <a:t>Some words strongly predict labels by themselves.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508760"/>
            <a:ext cx="5303520" cy="914400"/>
          </a:xfrm>
          <a:prstGeom prst="roundRect">
            <a:avLst>
              <a:gd name="adj" fmla="val 12000"/>
            </a:avLst>
          </a:prstGeom>
          <a:solidFill>
            <a:srgbClr val="FFF0C2"/>
          </a:solidFill>
          <a:ln w="1524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87552" y="1636776"/>
            <a:ext cx="4974336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900" b="1" i="1" dirty="0">
                <a:solidFill>
                  <a:srgbClr val="263238"/>
                </a:solidFill>
              </a:rPr>
              <a:t>If a word is strongly tied to one label, it becomes a shortcut.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629400" y="144475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EF5B5B"/>
                </a:solidFill>
              </a:rPr>
              <a:t>SNLI contradiction clues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629400" y="1965960"/>
            <a:ext cx="3566160" cy="384048"/>
          </a:xfrm>
          <a:prstGeom prst="roundRect">
            <a:avLst>
              <a:gd name="adj" fmla="val 28571"/>
            </a:avLst>
          </a:prstGeom>
          <a:solidFill>
            <a:srgbClr val="FFE0DB"/>
          </a:solidFill>
          <a:ln w="12700">
            <a:solidFill>
              <a:srgbClr val="FFE0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702552" y="2048256"/>
            <a:ext cx="3419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F5B5B"/>
                </a:solidFill>
              </a:rPr>
              <a:t>Nobody · 1.00 · freq 52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629400" y="2514600"/>
            <a:ext cx="3383280" cy="384048"/>
          </a:xfrm>
          <a:prstGeom prst="roundRect">
            <a:avLst>
              <a:gd name="adj" fmla="val 28571"/>
            </a:avLst>
          </a:prstGeom>
          <a:solidFill>
            <a:srgbClr val="FFE0DB"/>
          </a:solidFill>
          <a:ln w="12700">
            <a:solidFill>
              <a:srgbClr val="FFE0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702552" y="2596896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F5B5B"/>
                </a:solidFill>
              </a:rPr>
              <a:t>sleeps · 0.95 · freq 20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629400" y="3063240"/>
            <a:ext cx="3246120" cy="384048"/>
          </a:xfrm>
          <a:prstGeom prst="roundRect">
            <a:avLst>
              <a:gd name="adj" fmla="val 28571"/>
            </a:avLst>
          </a:prstGeom>
          <a:solidFill>
            <a:srgbClr val="FFE0DB"/>
          </a:solidFill>
          <a:ln w="12700">
            <a:solidFill>
              <a:srgbClr val="FFE0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702552" y="3145536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F5B5B"/>
                </a:solidFill>
              </a:rPr>
              <a:t>empty · 0.93 · freq 28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629400" y="3611880"/>
            <a:ext cx="3749040" cy="384048"/>
          </a:xfrm>
          <a:prstGeom prst="roundRect">
            <a:avLst>
              <a:gd name="adj" fmla="val 28571"/>
            </a:avLst>
          </a:prstGeom>
          <a:solidFill>
            <a:srgbClr val="FFE0DB"/>
          </a:solidFill>
          <a:ln w="12700">
            <a:solidFill>
              <a:srgbClr val="FFE0D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702552" y="3694176"/>
            <a:ext cx="3602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F5B5B"/>
                </a:solidFill>
              </a:rPr>
              <a:t>sleeping · 0.88 · freq 108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" y="4251960"/>
            <a:ext cx="9875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63238"/>
                </a:solidFill>
              </a:rPr>
              <a:t>Compare: MPE words were much closer to uniform, so the shortcut was weaker.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2103120" y="50749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8B8D"/>
                </a:solidFill>
              </a:rPr>
              <a:t>Formula idea:  p(label | word) = count(word with label) / count(word)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02920" y="651967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37B"/>
                </a:solidFill>
              </a:rPr>
              <a:t>Poliak et al., 2018 · Hypothesis Only Baselines in NLI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738360" y="65196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8A837B"/>
                </a:solidFill>
              </a:rPr>
              <a:t>*SEM 2018</a:t>
            </a:r>
            <a:endParaRPr lang="en-US" sz="8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63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do these clue words appear?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8961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</a:rPr>
              <a:t>Human annotation can create repeated easy strategies.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10896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50976" y="1938528"/>
            <a:ext cx="2852928" cy="1060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3238"/>
                </a:solidFill>
              </a:rPr>
              <a:t>Premise from image caption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63238"/>
                </a:solidFill>
              </a:rPr>
              <a:t>“A person is doing an activity.”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069080" y="2468880"/>
            <a:ext cx="1097280" cy="0"/>
          </a:xfrm>
          <a:prstGeom prst="line">
            <a:avLst/>
          </a:prstGeom>
          <a:noFill/>
          <a:ln w="27940">
            <a:solidFill>
              <a:srgbClr val="314E5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285232" y="1828800"/>
            <a:ext cx="237744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13248" y="1938528"/>
            <a:ext cx="2121408" cy="1060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3238"/>
                </a:solidFill>
              </a:rPr>
              <a:t>Crowdworker needs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63238"/>
                </a:solidFill>
              </a:rPr>
              <a:t>a contradiction fast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90688" y="2468880"/>
            <a:ext cx="896112" cy="0"/>
          </a:xfrm>
          <a:prstGeom prst="line">
            <a:avLst/>
          </a:prstGeom>
          <a:noFill/>
          <a:ln w="27940">
            <a:solidFill>
              <a:srgbClr val="314E52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778240" y="1828800"/>
            <a:ext cx="2468880" cy="1280160"/>
          </a:xfrm>
          <a:prstGeom prst="roundRect">
            <a:avLst>
              <a:gd name="adj" fmla="val 10000"/>
            </a:avLst>
          </a:prstGeom>
          <a:solidFill>
            <a:srgbClr val="FFE0DB"/>
          </a:solidFill>
          <a:ln w="15240">
            <a:solidFill>
              <a:srgbClr val="EF5B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906256" y="1938528"/>
            <a:ext cx="2212848" cy="1060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3238"/>
                </a:solidFill>
              </a:rPr>
              <a:t>Easy move: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63238"/>
                </a:solidFill>
              </a:rPr>
              <a:t>“person is sleeping”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388620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63238"/>
                </a:solidFill>
              </a:rPr>
              <a:t>The model can exploit it.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463040" y="4709160"/>
            <a:ext cx="923544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900" dirty="0">
                <a:solidFill>
                  <a:srgbClr val="6B6B6B"/>
                </a:solidFill>
              </a:rPr>
              <a:t>Paper’s point: if annotation habits leak into labels, high model accuracy may overstate real reasoning.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02920" y="651967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37B"/>
                </a:solidFill>
              </a:rPr>
              <a:t>Poliak et al., 2018 · Hypothesis Only Baselines in NLI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738360" y="65196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8A837B"/>
                </a:solidFill>
              </a:rPr>
              <a:t>*SEM 2018</a:t>
            </a:r>
            <a:endParaRPr lang="en-US" sz="8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63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Clue #2 and #3: grammar + world knowledge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8961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</a:rPr>
              <a:t>Not all shortcuts are the same kind of bad.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737360"/>
            <a:ext cx="3840480" cy="1280160"/>
          </a:xfrm>
          <a:prstGeom prst="roundRect">
            <a:avLst>
              <a:gd name="adj" fmla="val 10000"/>
            </a:avLst>
          </a:prstGeom>
          <a:solidFill>
            <a:srgbClr val="FFE0DB"/>
          </a:solidFill>
          <a:ln w="15240">
            <a:solidFill>
              <a:srgbClr val="EF5B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9536" y="1847088"/>
            <a:ext cx="3584448" cy="1060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63238"/>
                </a:solidFill>
              </a:rPr>
              <a:t>FN+ grammar shortcut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263238"/>
                </a:solidFill>
              </a:rPr>
              <a:t>Broken sentence → often NOT‑ENTAILED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60120" y="3246120"/>
            <a:ext cx="33832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i="1" dirty="0">
                <a:solidFill>
                  <a:srgbClr val="263238"/>
                </a:solidFill>
              </a:rPr>
              <a:t>Example from paper style:</a:t>
            </a:r>
            <a:endParaRPr lang="en-US" sz="1700" dirty="0"/>
          </a:p>
          <a:p>
            <a:pPr marL="0" indent="0">
              <a:buNone/>
            </a:pPr>
            <a:r>
              <a:rPr lang="en-US" sz="1700" i="1" dirty="0">
                <a:solidFill>
                  <a:srgbClr val="263238"/>
                </a:solidFill>
              </a:rPr>
              <a:t>“That is the way the system creations.”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4160520"/>
            <a:ext cx="35204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EF5B5B"/>
                </a:solidFill>
              </a:rPr>
              <a:t>The model improved +34.37% on NOT‑ENTAILED FN+ examples.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92240" y="1737360"/>
            <a:ext cx="4206240" cy="1280160"/>
          </a:xfrm>
          <a:prstGeom prst="roundRect">
            <a:avLst>
              <a:gd name="adj" fmla="val 10000"/>
            </a:avLst>
          </a:prstGeom>
          <a:solidFill>
            <a:srgbClr val="DDF1EF"/>
          </a:solidFill>
          <a:ln w="1524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620256" y="1847088"/>
            <a:ext cx="3950208" cy="1060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63238"/>
                </a:solidFill>
              </a:rPr>
              <a:t>SPR lexical semantics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263238"/>
                </a:solidFill>
              </a:rPr>
              <a:t>Some facts are guessable from words alone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766560" y="3246120"/>
            <a:ext cx="35661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263238"/>
                </a:solidFill>
              </a:rPr>
              <a:t>“Experts were sentient” ✅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263238"/>
                </a:solidFill>
              </a:rPr>
              <a:t>“The campaign was sentient” ❌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92240" y="4160520"/>
            <a:ext cx="40233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0F8B8D"/>
                </a:solidFill>
              </a:rPr>
              <a:t>This may be real world knowledge — less “bad”, but still means context was not needed.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870448" y="1600200"/>
            <a:ext cx="0" cy="3566160"/>
          </a:xfrm>
          <a:prstGeom prst="line">
            <a:avLst/>
          </a:prstGeom>
          <a:noFill/>
          <a:ln w="25400">
            <a:solidFill>
              <a:srgbClr val="D8CF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651967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37B"/>
                </a:solidFill>
              </a:rPr>
              <a:t>Poliak et al., 2018 · Hypothesis Only Baselines in NLI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738360" y="65196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8A837B"/>
                </a:solidFill>
              </a:rPr>
              <a:t>*SEM 2018</a:t>
            </a:r>
            <a:endParaRPr lang="en-US" sz="8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63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paper concludes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8961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</a:rPr>
              <a:t>The baseline is a diagnostic tool, not a replacement for NLI.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4846320" cy="1554480"/>
          </a:xfrm>
          <a:prstGeom prst="roundRect">
            <a:avLst>
              <a:gd name="adj" fmla="val 8235"/>
            </a:avLst>
          </a:prstGeom>
          <a:solidFill>
            <a:srgbClr val="DDF1EF"/>
          </a:solidFill>
          <a:ln w="1524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9536" y="1938528"/>
            <a:ext cx="4590288" cy="1335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63238"/>
                </a:solidFill>
              </a:rPr>
              <a:t>DO conclude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263238"/>
                </a:solidFill>
              </a:rPr>
              <a:t>A high NLI score is less convincing if a hypothesis‑only model is already strong.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6583680" y="1828800"/>
            <a:ext cx="4846320" cy="1554480"/>
          </a:xfrm>
          <a:prstGeom prst="roundRect">
            <a:avLst>
              <a:gd name="adj" fmla="val 8235"/>
            </a:avLst>
          </a:prstGeom>
          <a:solidFill>
            <a:srgbClr val="FFE0DB"/>
          </a:solidFill>
          <a:ln w="15240">
            <a:solidFill>
              <a:srgbClr val="EF5B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711696" y="1938528"/>
            <a:ext cx="4590288" cy="1335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63238"/>
                </a:solidFill>
              </a:rPr>
              <a:t>DO NOT conclude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263238"/>
                </a:solidFill>
              </a:rPr>
              <a:t>“All NLI datasets are useless” or “full models definitely use the same shortcut.”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34440" y="43434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63238"/>
                </a:solidFill>
              </a:rPr>
              <a:t>Recommended practice: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4617720" y="431596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F8B8D"/>
                </a:solidFill>
              </a:rPr>
              <a:t>For every NLI model, also report the matching hypothesis‑only baseline.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" y="651967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37B"/>
                </a:solidFill>
              </a:rPr>
              <a:t>Poliak et al., 2018 · Hypothesis Only Baselines in NLI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738360" y="65196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8A837B"/>
                </a:solidFill>
              </a:rPr>
              <a:t>*SEM 2018</a:t>
            </a:r>
            <a:endParaRPr lang="en-US" sz="8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63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My critical view: strong idea, but not perfect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8961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</a:rPr>
              <a:t>Three limitations worth keeping in mind — none of them fatal.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68680" y="1828800"/>
            <a:ext cx="320040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524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96696" y="1938528"/>
            <a:ext cx="2944368" cy="1929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3238"/>
                </a:solidFill>
              </a:rPr>
              <a:t>1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63238"/>
                </a:solidFill>
              </a:rPr>
              <a:t>One architecture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63238"/>
                </a:solidFill>
              </a:rPr>
              <a:t>They mainly use an InferSent‑style model. Other baselines could reveal different artifacts.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480560" y="1828800"/>
            <a:ext cx="320040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524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608576" y="1938528"/>
            <a:ext cx="2944368" cy="1929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3238"/>
                </a:solidFill>
              </a:rPr>
              <a:t>2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63238"/>
                </a:solidFill>
              </a:rPr>
              <a:t>Correlation ≠ full model behavior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63238"/>
                </a:solidFill>
              </a:rPr>
              <a:t>A clue exists, but this does not prove the complete model relies on it.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092440" y="1828800"/>
            <a:ext cx="320040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5240">
            <a:solidFill>
              <a:srgbClr val="EF5B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220456" y="1938528"/>
            <a:ext cx="2944368" cy="19293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3238"/>
                </a:solidFill>
              </a:rPr>
              <a:t>3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63238"/>
                </a:solidFill>
              </a:rPr>
              <a:t>Some shortcuts are legitimate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63238"/>
                </a:solidFill>
              </a:rPr>
              <a:t>World knowledge can be part of language understanding, not just “bad bias.”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498348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63238"/>
                </a:solidFill>
              </a:rPr>
              <a:t>Still, the paper’s diagnostic is simple, cheap, and very hard to ignore.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02920" y="651967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37B"/>
                </a:solidFill>
              </a:rPr>
              <a:t>Poliak et al., 2018 · Hypothesis Only Baselines in NLI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9738360" y="65196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8A837B"/>
                </a:solidFill>
              </a:rPr>
              <a:t>*SEM 2018</a:t>
            </a:r>
            <a:endParaRPr lang="en-US" sz="8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26323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my thesis/project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30352" y="932688"/>
            <a:ext cx="89611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</a:rPr>
              <a:t>Same logic for claim verification against student files.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291840" cy="1188720"/>
          </a:xfrm>
          <a:prstGeom prst="roundRect">
            <a:avLst>
              <a:gd name="adj" fmla="val 10769"/>
            </a:avLst>
          </a:prstGeom>
          <a:solidFill>
            <a:srgbClr val="DDF1EF"/>
          </a:solidFill>
          <a:ln w="1524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9536" y="1938528"/>
            <a:ext cx="3035808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3238"/>
                </a:solidFill>
              </a:rPr>
              <a:t>Full system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63238"/>
                </a:solidFill>
              </a:rPr>
              <a:t>Evidence documents + report claim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160520" y="2423160"/>
            <a:ext cx="1051560" cy="0"/>
          </a:xfrm>
          <a:prstGeom prst="line">
            <a:avLst/>
          </a:prstGeom>
          <a:noFill/>
          <a:ln w="27940">
            <a:solidFill>
              <a:srgbClr val="0F8B8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074920" y="1874520"/>
            <a:ext cx="2606040" cy="109728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15240">
            <a:solidFill>
              <a:srgbClr val="0F8B8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202936" y="1984248"/>
            <a:ext cx="2350008" cy="8778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3238"/>
                </a:solidFill>
              </a:rPr>
              <a:t>supported / contradicted / not mentioned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3749040"/>
            <a:ext cx="3291840" cy="1188720"/>
          </a:xfrm>
          <a:prstGeom prst="roundRect">
            <a:avLst>
              <a:gd name="adj" fmla="val 10769"/>
            </a:avLst>
          </a:prstGeom>
          <a:solidFill>
            <a:srgbClr val="FFE0DB"/>
          </a:solidFill>
          <a:ln w="15240">
            <a:solidFill>
              <a:srgbClr val="EF5B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59536" y="3858768"/>
            <a:ext cx="3035808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3238"/>
                </a:solidFill>
              </a:rPr>
              <a:t>Claim‑only baseline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263238"/>
                </a:solidFill>
              </a:rPr>
              <a:t>Report claim only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160520" y="4343400"/>
            <a:ext cx="1051560" cy="0"/>
          </a:xfrm>
          <a:prstGeom prst="line">
            <a:avLst/>
          </a:prstGeom>
          <a:noFill/>
          <a:ln w="27940">
            <a:solidFill>
              <a:srgbClr val="EF5B5B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349240" y="3858768"/>
            <a:ext cx="1828800" cy="914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15240">
            <a:solidFill>
              <a:srgbClr val="EF5B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77256" y="3968496"/>
            <a:ext cx="1572768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63238"/>
                </a:solidFill>
              </a:rPr>
              <a:t>same labels?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36676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63238"/>
                </a:solidFill>
              </a:rPr>
              <a:t>Important question: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366760" y="2359152"/>
            <a:ext cx="2926080" cy="1371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EF5B5B"/>
                </a:solidFill>
              </a:rPr>
              <a:t>Is the model reading the evidence, or just learning phrases like “bleibt bestehen”?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34440" y="553212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F8B8D"/>
                </a:solidFill>
              </a:rPr>
              <a:t>Evaluation should compare: majority baseline → claim‑only → evidence‑only → full model.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02920" y="651967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37B"/>
                </a:solidFill>
              </a:rPr>
              <a:t>Poliak et al., 2018 · Hypothesis Only Baselines in NLI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738360" y="65196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8A837B"/>
                </a:solidFill>
              </a:rPr>
              <a:t>*SEM 2018</a:t>
            </a:r>
            <a:endParaRPr lang="en-US" sz="8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8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772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263238"/>
                </a:solidFill>
              </a:rPr>
              <a:t>One‑sentence takeaway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77240" y="1874520"/>
            <a:ext cx="10834468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200" b="1" dirty="0">
                <a:solidFill>
                  <a:srgbClr val="0F8B8D"/>
                </a:solidFill>
              </a:rPr>
              <a:t>Before celebrating “reasoning,” check whether the model can win without the information it should need.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154680" y="4525108"/>
            <a:ext cx="5669280" cy="1280160"/>
          </a:xfrm>
          <a:prstGeom prst="roundRect">
            <a:avLst>
              <a:gd name="adj" fmla="val 10000"/>
            </a:avLst>
          </a:prstGeom>
          <a:solidFill>
            <a:srgbClr val="FFF0C2"/>
          </a:solidFill>
          <a:ln w="15240">
            <a:solidFill>
              <a:srgbClr val="F4B9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31115" y="4634836"/>
            <a:ext cx="5413248" cy="1060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63238"/>
                </a:solidFill>
              </a:rPr>
              <a:t>Discussion question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263238"/>
                </a:solidFill>
              </a:rPr>
              <a:t>If a model predicts the right label from world knowledge alone, is that cheating or understanding?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502920" y="6519672"/>
            <a:ext cx="8046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8A837B"/>
                </a:solidFill>
              </a:rPr>
              <a:t>Poliak et al., 2018 · Hypothesis Only Baselines in NLI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9738360" y="651967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20" dirty="0">
                <a:solidFill>
                  <a:srgbClr val="8A837B"/>
                </a:solidFill>
              </a:rPr>
              <a:t>*SEM 2018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1128</Words>
  <Application>Microsoft Office PowerPoint</Application>
  <PresentationFormat>Widescreen</PresentationFormat>
  <Paragraphs>182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Hypothesis Only Baselines in NLI</dc:title>
  <dc:subject>Presentation on Hypothesis Only Baselines in Natural Language Inference</dc:subject>
  <dc:creator>OpenAI</dc:creator>
  <cp:lastModifiedBy>Sahar Mgh</cp:lastModifiedBy>
  <cp:revision>3</cp:revision>
  <dcterms:created xsi:type="dcterms:W3CDTF">2026-07-13T17:03:20Z</dcterms:created>
  <dcterms:modified xsi:type="dcterms:W3CDTF">2026-07-13T17:15:13Z</dcterms:modified>
</cp:coreProperties>
</file>